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Energy Savings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5.8</c:v>
                </c:pt>
                <c:pt idx="1">
                  <c:v>6.032</c:v>
                </c:pt>
                <c:pt idx="2">
                  <c:v>6.246399999999998</c:v>
                </c:pt>
                <c:pt idx="3">
                  <c:v>6.442495999999999</c:v>
                </c:pt>
                <c:pt idx="4">
                  <c:v>6.619555839999998</c:v>
                </c:pt>
                <c:pt idx="5">
                  <c:v>6.776818073599999</c:v>
                </c:pt>
                <c:pt idx="6">
                  <c:v>6.9134907965439965</c:v>
                </c:pt>
                <c:pt idx="7">
                  <c:v>7.028750428405758</c:v>
                </c:pt>
                <c:pt idx="8">
                  <c:v>7.121740445541987</c:v>
                </c:pt>
                <c:pt idx="9">
                  <c:v>7.191570063363662</c:v>
                </c:pt>
                <c:pt idx="10">
                  <c:v>7.237312865898211</c:v>
                </c:pt>
                <c:pt idx="11">
                  <c:v>7.258005380534137</c:v>
                </c:pt>
                <c:pt idx="12">
                  <c:v>7.252645595755505</c:v>
                </c:pt>
                <c:pt idx="13">
                  <c:v>7.220191419585724</c:v>
                </c:pt>
                <c:pt idx="14">
                  <c:v>7.159559076369151</c:v>
                </c:pt>
                <c:pt idx="15">
                  <c:v>7.069621439423917</c:v>
                </c:pt>
                <c:pt idx="16">
                  <c:v>6.949206297000877</c:v>
                </c:pt>
                <c:pt idx="17">
                  <c:v>6.797094548880912</c:v>
                </c:pt>
                <c:pt idx="18">
                  <c:v>6.6120183308361415</c:v>
                </c:pt>
                <c:pt idx="19">
                  <c:v>6.392659064069587</c:v>
                </c:pt>
                <c:pt idx="20">
                  <c:v>6.137645426632371</c:v>
                </c:pt>
                <c:pt idx="21">
                  <c:v>5.845551243697661</c:v>
                </c:pt>
                <c:pt idx="22">
                  <c:v>5.514893293445573</c:v>
                </c:pt>
                <c:pt idx="23">
                  <c:v>5.144129025183393</c:v>
                </c:pt>
                <c:pt idx="24">
                  <c:v>4.731654186190725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Savings</c:v>
                </c:pt>
              </c:strCache>
            </c:strRef>
          </c:tx>
          <c:spPr>
            <a:solidFill>
              <a:srgbClr val="51848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2.6</c:v>
                </c:pt>
                <c:pt idx="1">
                  <c:v>2.6</c:v>
                </c:pt>
                <c:pt idx="2">
                  <c:v>2.6</c:v>
                </c:pt>
                <c:pt idx="3">
                  <c:v>2.6</c:v>
                </c:pt>
                <c:pt idx="4">
                  <c:v>2.6</c:v>
                </c:pt>
                <c:pt idx="5">
                  <c:v>2.6</c:v>
                </c:pt>
                <c:pt idx="6">
                  <c:v>2.6</c:v>
                </c:pt>
                <c:pt idx="7">
                  <c:v>2.6</c:v>
                </c:pt>
                <c:pt idx="8">
                  <c:v>2.6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2.6</c:v>
                </c:pt>
                <c:pt idx="13">
                  <c:v>2.6</c:v>
                </c:pt>
                <c:pt idx="14">
                  <c:v>2.6</c:v>
                </c:pt>
                <c:pt idx="15">
                  <c:v>2.6</c:v>
                </c:pt>
                <c:pt idx="16">
                  <c:v>2.6</c:v>
                </c:pt>
                <c:pt idx="17">
                  <c:v>2.6</c:v>
                </c:pt>
                <c:pt idx="18">
                  <c:v>2.6</c:v>
                </c:pt>
                <c:pt idx="19">
                  <c:v>2.6</c:v>
                </c:pt>
                <c:pt idx="20">
                  <c:v>2.6</c:v>
                </c:pt>
                <c:pt idx="21">
                  <c:v>2.6</c:v>
                </c:pt>
                <c:pt idx="22">
                  <c:v>2.6</c:v>
                </c:pt>
                <c:pt idx="23">
                  <c:v>2.6</c:v>
                </c:pt>
                <c:pt idx="24">
                  <c:v>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Export Credits</c:v>
                </c:pt>
              </c:strCache>
            </c:strRef>
          </c:tx>
          <c:spPr>
            <a:solidFill>
              <a:srgbClr val="1D6FA9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0.8</c:v>
                </c:pt>
                <c:pt idx="1">
                  <c:v>0.832</c:v>
                </c:pt>
                <c:pt idx="2">
                  <c:v>0.86528</c:v>
                </c:pt>
                <c:pt idx="3">
                  <c:v>0.8998912</c:v>
                </c:pt>
                <c:pt idx="4">
                  <c:v>0.9358868480000002</c:v>
                </c:pt>
                <c:pt idx="5">
                  <c:v>0.9733223219200001</c:v>
                </c:pt>
                <c:pt idx="6">
                  <c:v>1.0122552147968003</c:v>
                </c:pt>
                <c:pt idx="7">
                  <c:v>1.0527454233886722</c:v>
                </c:pt>
                <c:pt idx="8">
                  <c:v>1.094855240324219</c:v>
                </c:pt>
                <c:pt idx="9">
                  <c:v>1.138649449937188</c:v>
                </c:pt>
                <c:pt idx="10">
                  <c:v>1.1841954279346756</c:v>
                </c:pt>
                <c:pt idx="11">
                  <c:v>1.2315632450520626</c:v>
                </c:pt>
                <c:pt idx="12">
                  <c:v>1.2808257748541452</c:v>
                </c:pt>
                <c:pt idx="13">
                  <c:v>1.3320588058483112</c:v>
                </c:pt>
                <c:pt idx="14">
                  <c:v>1.3853411580822435</c:v>
                </c:pt>
                <c:pt idx="15">
                  <c:v>1.4407548044055332</c:v>
                </c:pt>
                <c:pt idx="16">
                  <c:v>1.4983849965817546</c:v>
                </c:pt>
                <c:pt idx="17">
                  <c:v>1.558320396445025</c:v>
                </c:pt>
                <c:pt idx="18">
                  <c:v>1.6206532123028259</c:v>
                </c:pt>
                <c:pt idx="19">
                  <c:v>1.685479340794939</c:v>
                </c:pt>
                <c:pt idx="20">
                  <c:v>1.7528985144267366</c:v>
                </c:pt>
                <c:pt idx="21">
                  <c:v>1.8230144550038063</c:v>
                </c:pt>
                <c:pt idx="22">
                  <c:v>1.8959350332039584</c:v>
                </c:pt>
                <c:pt idx="23">
                  <c:v>1.9717724345321168</c:v>
                </c:pt>
                <c:pt idx="24">
                  <c:v>2.0506433319134016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NBC Charges</c:v>
                </c:pt>
              </c:strCache>
            </c:strRef>
          </c:tx>
          <c:spPr>
            <a:solidFill>
              <a:srgbClr val="CC444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-0.2</c:v>
                </c:pt>
                <c:pt idx="1">
                  <c:v>-0.208</c:v>
                </c:pt>
                <c:pt idx="2">
                  <c:v>-0.21632</c:v>
                </c:pt>
                <c:pt idx="3">
                  <c:v>-0.2249728</c:v>
                </c:pt>
                <c:pt idx="4">
                  <c:v>-0.23397171200000005</c:v>
                </c:pt>
                <c:pt idx="5">
                  <c:v>-0.24333058048000003</c:v>
                </c:pt>
                <c:pt idx="6">
                  <c:v>-0.25306380369920006</c:v>
                </c:pt>
                <c:pt idx="7">
                  <c:v>-0.26318635584716804</c:v>
                </c:pt>
                <c:pt idx="8">
                  <c:v>-0.2737138100810548</c:v>
                </c:pt>
                <c:pt idx="9">
                  <c:v>-0.284662362484297</c:v>
                </c:pt>
                <c:pt idx="10">
                  <c:v>-0.2960488569836689</c:v>
                </c:pt>
                <c:pt idx="11">
                  <c:v>-0.30789081126301565</c:v>
                </c:pt>
                <c:pt idx="12">
                  <c:v>-0.3202064437135363</c:v>
                </c:pt>
                <c:pt idx="13">
                  <c:v>-0.3330147014620778</c:v>
                </c:pt>
                <c:pt idx="14">
                  <c:v>-0.34633528952056086</c:v>
                </c:pt>
                <c:pt idx="15">
                  <c:v>-0.3601887011013833</c:v>
                </c:pt>
                <c:pt idx="16">
                  <c:v>-0.37459624914543865</c:v>
                </c:pt>
                <c:pt idx="17">
                  <c:v>-0.38958009911125624</c:v>
                </c:pt>
                <c:pt idx="18">
                  <c:v>-0.40516330307570647</c:v>
                </c:pt>
                <c:pt idx="19">
                  <c:v>-0.4213698351987348</c:v>
                </c:pt>
                <c:pt idx="20">
                  <c:v>-0.43822462860668415</c:v>
                </c:pt>
                <c:pt idx="21">
                  <c:v>-0.4557536137509516</c:v>
                </c:pt>
                <c:pt idx="22">
                  <c:v>-0.4739837583009896</c:v>
                </c:pt>
                <c:pt idx="23">
                  <c:v>-0.4929431086330292</c:v>
                </c:pt>
                <c:pt idx="24">
                  <c:v>-0.5126608329783504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Annual Savings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overlay val="0"/>
      <c:txPr>
        <a:bodyPr/>
        <a:p>
          <a:pPr>
            <a:defRPr sz="800">
              <a:latin typeface="Century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Site Load (MWh)</c:v>
                </c:pt>
              </c:strCache>
            </c:strRef>
          </c:tx>
          <c:spPr>
            <a:solidFill>
              <a:srgbClr val="212B4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7.8</c:v>
                </c:pt>
                <c:pt idx="2">
                  <c:v>9.2</c:v>
                </c:pt>
                <c:pt idx="3">
                  <c:v>10.5</c:v>
                </c:pt>
                <c:pt idx="4">
                  <c:v>12.0</c:v>
                </c:pt>
                <c:pt idx="5">
                  <c:v>14.5</c:v>
                </c:pt>
                <c:pt idx="6">
                  <c:v>16.0</c:v>
                </c:pt>
                <c:pt idx="7">
                  <c:v>15.5</c:v>
                </c:pt>
                <c:pt idx="8">
                  <c:v>13.0</c:v>
                </c:pt>
                <c:pt idx="9">
                  <c:v>11.0</c:v>
                </c:pt>
                <c:pt idx="10">
                  <c:v>9.0</c:v>
                </c:pt>
                <c:pt idx="11">
                  <c:v>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Production (MWh)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5.1</c:v>
                </c:pt>
                <c:pt idx="2">
                  <c:v>6.8</c:v>
                </c:pt>
                <c:pt idx="3">
                  <c:v>8.5</c:v>
                </c:pt>
                <c:pt idx="4">
                  <c:v>9.8</c:v>
                </c:pt>
                <c:pt idx="5">
                  <c:v>10.5</c:v>
                </c:pt>
                <c:pt idx="6">
                  <c:v>10.2</c:v>
                </c:pt>
                <c:pt idx="7">
                  <c:v>9.5</c:v>
                </c:pt>
                <c:pt idx="8">
                  <c:v>7.8</c:v>
                </c:pt>
                <c:pt idx="9">
                  <c:v>6.0</c:v>
                </c:pt>
                <c:pt idx="10">
                  <c:v>4.5</c:v>
                </c:pt>
                <c:pt idx="11">
                  <c:v>3.8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overlay val="0"/>
      <c:txPr>
        <a:bodyPr/>
        <a:p>
          <a:pPr>
            <a:defRPr sz="800">
              <a:latin typeface="Century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Only @ 10%/yr</c:v>
                </c:pt>
              </c:strCache>
            </c:strRef>
          </c:tx>
          <c:spPr>
            <a:ln w="16510">
              <a:solidFill>
                <a:srgbClr val="1D6FA9"/>
              </a:solidFill>
              <a:prstDash val="dashDot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35.0</c:v>
                </c:pt>
                <c:pt idx="1">
                  <c:v>38.5</c:v>
                </c:pt>
                <c:pt idx="2">
                  <c:v>42.35000000000001</c:v>
                </c:pt>
                <c:pt idx="3">
                  <c:v>46.585000000000015</c:v>
                </c:pt>
                <c:pt idx="4">
                  <c:v>51.24350000000001</c:v>
                </c:pt>
                <c:pt idx="5">
                  <c:v>56.36785000000002</c:v>
                </c:pt>
                <c:pt idx="6">
                  <c:v>62.00463500000003</c:v>
                </c:pt>
                <c:pt idx="7">
                  <c:v>68.20509850000003</c:v>
                </c:pt>
                <c:pt idx="8">
                  <c:v>75.02560835000006</c:v>
                </c:pt>
                <c:pt idx="9">
                  <c:v>82.52816918500007</c:v>
                </c:pt>
                <c:pt idx="10">
                  <c:v>90.78098610350008</c:v>
                </c:pt>
                <c:pt idx="11">
                  <c:v>99.85908471385008</c:v>
                </c:pt>
                <c:pt idx="12">
                  <c:v>109.8449931852351</c:v>
                </c:pt>
                <c:pt idx="13">
                  <c:v>120.82949250375863</c:v>
                </c:pt>
                <c:pt idx="14">
                  <c:v>132.91244175413448</c:v>
                </c:pt>
                <c:pt idx="15">
                  <c:v>146.20368592954796</c:v>
                </c:pt>
                <c:pt idx="16">
                  <c:v>160.82405452250276</c:v>
                </c:pt>
                <c:pt idx="17">
                  <c:v>176.9064599747531</c:v>
                </c:pt>
                <c:pt idx="18">
                  <c:v>194.5971059722284</c:v>
                </c:pt>
                <c:pt idx="19">
                  <c:v>214.05681656945123</c:v>
                </c:pt>
                <c:pt idx="20">
                  <c:v>235.46249822639638</c:v>
                </c:pt>
                <c:pt idx="21">
                  <c:v>259.00874804903606</c:v>
                </c:pt>
                <c:pt idx="22">
                  <c:v>284.90962285393965</c:v>
                </c:pt>
                <c:pt idx="23">
                  <c:v>313.40058513933366</c:v>
                </c:pt>
                <c:pt idx="24">
                  <c:v>344.74064365326706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Only @ 7%/yr</c:v>
                </c:pt>
              </c:strCache>
            </c:strRef>
          </c:tx>
          <c:spPr>
            <a:ln w="22860">
              <a:solidFill>
                <a:srgbClr val="050D25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35.0</c:v>
                </c:pt>
                <c:pt idx="1">
                  <c:v>37.45</c:v>
                </c:pt>
                <c:pt idx="2">
                  <c:v>40.0715</c:v>
                </c:pt>
                <c:pt idx="3">
                  <c:v>42.876505</c:v>
                </c:pt>
                <c:pt idx="4">
                  <c:v>45.87786035000001</c:v>
                </c:pt>
                <c:pt idx="5">
                  <c:v>49.08931057450001</c:v>
                </c:pt>
                <c:pt idx="6">
                  <c:v>52.52556231471502</c:v>
                </c:pt>
                <c:pt idx="7">
                  <c:v>56.202351676745074</c:v>
                </c:pt>
                <c:pt idx="8">
                  <c:v>60.13651629411723</c:v>
                </c:pt>
                <c:pt idx="9">
                  <c:v>64.34607243470545</c:v>
                </c:pt>
                <c:pt idx="10">
                  <c:v>68.85029750513483</c:v>
                </c:pt>
                <c:pt idx="11">
                  <c:v>73.66981833049427</c:v>
                </c:pt>
                <c:pt idx="12">
                  <c:v>78.82670561362887</c:v>
                </c:pt>
                <c:pt idx="13">
                  <c:v>84.34457500658289</c:v>
                </c:pt>
                <c:pt idx="14">
                  <c:v>90.24869525704369</c:v>
                </c:pt>
                <c:pt idx="15">
                  <c:v>96.56610392503677</c:v>
                </c:pt>
                <c:pt idx="16">
                  <c:v>103.32573119978936</c:v>
                </c:pt>
                <c:pt idx="17">
                  <c:v>110.5585323837746</c:v>
                </c:pt>
                <c:pt idx="18">
                  <c:v>118.29762965063884</c:v>
                </c:pt>
                <c:pt idx="19">
                  <c:v>126.57846372618357</c:v>
                </c:pt>
                <c:pt idx="20">
                  <c:v>135.43895618701643</c:v>
                </c:pt>
                <c:pt idx="21">
                  <c:v>144.9196831201076</c:v>
                </c:pt>
                <c:pt idx="22">
                  <c:v>155.06406093851515</c:v>
                </c:pt>
                <c:pt idx="23">
                  <c:v>165.91854520421117</c:v>
                </c:pt>
                <c:pt idx="24">
                  <c:v>177.532843368506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Utility Only @ 4%/yr</c:v>
                </c:pt>
              </c:strCache>
            </c:strRef>
          </c:tx>
          <c:spPr>
            <a:ln w="16510">
              <a:solidFill>
                <a:srgbClr val="51848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35.0</c:v>
                </c:pt>
                <c:pt idx="1">
                  <c:v>36.4</c:v>
                </c:pt>
                <c:pt idx="2">
                  <c:v>37.85600000000001</c:v>
                </c:pt>
                <c:pt idx="3">
                  <c:v>39.37024</c:v>
                </c:pt>
                <c:pt idx="4">
                  <c:v>40.945049600000004</c:v>
                </c:pt>
                <c:pt idx="5">
                  <c:v>42.582851584000004</c:v>
                </c:pt>
                <c:pt idx="6">
                  <c:v>44.286165647360015</c:v>
                </c:pt>
                <c:pt idx="7">
                  <c:v>46.057612273254406</c:v>
                </c:pt>
                <c:pt idx="8">
                  <c:v>47.89991676418459</c:v>
                </c:pt>
                <c:pt idx="9">
                  <c:v>49.81591343475197</c:v>
                </c:pt>
                <c:pt idx="10">
                  <c:v>51.808549972142046</c:v>
                </c:pt>
                <c:pt idx="11">
                  <c:v>53.880891971027744</c:v>
                </c:pt>
                <c:pt idx="12">
                  <c:v>56.03612764986885</c:v>
                </c:pt>
                <c:pt idx="13">
                  <c:v>58.27757275586361</c:v>
                </c:pt>
                <c:pt idx="14">
                  <c:v>60.60867566609816</c:v>
                </c:pt>
                <c:pt idx="15">
                  <c:v>63.03302269274208</c:v>
                </c:pt>
                <c:pt idx="16">
                  <c:v>65.55434360045176</c:v>
                </c:pt>
                <c:pt idx="17">
                  <c:v>68.17651734446984</c:v>
                </c:pt>
                <c:pt idx="18">
                  <c:v>70.90357803824864</c:v>
                </c:pt>
                <c:pt idx="19">
                  <c:v>73.73972115977858</c:v>
                </c:pt>
                <c:pt idx="20">
                  <c:v>76.68931000616973</c:v>
                </c:pt>
                <c:pt idx="21">
                  <c:v>79.75688240641652</c:v>
                </c:pt>
                <c:pt idx="22">
                  <c:v>82.94715770267318</c:v>
                </c:pt>
                <c:pt idx="23">
                  <c:v>86.26504401078012</c:v>
                </c:pt>
                <c:pt idx="24">
                  <c:v>89.71564577121133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 PPA + Solar</c:v>
                </c:pt>
              </c:strCache>
            </c:strRef>
          </c:tx>
          <c:spPr>
            <a:ln w="27940">
              <a:solidFill>
                <a:srgbClr val="45A750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17.3</c:v>
                </c:pt>
                <c:pt idx="1">
                  <c:v>17.7644125</c:v>
                </c:pt>
                <c:pt idx="2">
                  <c:v>18.2439876875</c:v>
                </c:pt>
                <c:pt idx="3">
                  <c:v>18.7392808628125</c:v>
                </c:pt>
                <c:pt idx="4">
                  <c:v>19.25086877015469</c:v>
                </c:pt>
                <c:pt idx="5">
                  <c:v>19.779350443883008</c:v>
                </c:pt>
                <c:pt idx="6">
                  <c:v>20.32534808840429</c:v>
                </c:pt>
                <c:pt idx="7">
                  <c:v>20.889507993107916</c:v>
                </c:pt>
                <c:pt idx="8">
                  <c:v>21.4725014837172</c:v>
                </c:pt>
                <c:pt idx="9">
                  <c:v>22.075025911514125</c:v>
                </c:pt>
                <c:pt idx="10">
                  <c:v>22.697805681949657</c:v>
                </c:pt>
                <c:pt idx="11">
                  <c:v>23.341593324212226</c:v>
                </c:pt>
                <c:pt idx="12">
                  <c:v>24.007170603390076</c:v>
                </c:pt>
                <c:pt idx="13">
                  <c:v>24.695349676928178</c:v>
                </c:pt>
                <c:pt idx="14">
                  <c:v>25.40697429714884</c:v>
                </c:pt>
                <c:pt idx="15">
                  <c:v>26.14292106167548</c:v>
                </c:pt>
                <c:pt idx="16">
                  <c:v>26.904100713672797</c:v>
                </c:pt>
                <c:pt idx="17">
                  <c:v>27.691459493892957</c:v>
                </c:pt>
                <c:pt idx="18">
                  <c:v>28.50598054659703</c:v>
                </c:pt>
                <c:pt idx="19">
                  <c:v>29.34868538150349</c:v>
                </c:pt>
                <c:pt idx="20">
                  <c:v>30.220635394001846</c:v>
                </c:pt>
                <c:pt idx="21">
                  <c:v>31.12293344595871</c:v>
                </c:pt>
                <c:pt idx="22">
                  <c:v>32.0567255095368</c:v>
                </c:pt>
                <c:pt idx="23">
                  <c:v>33.023202376544106</c:v>
                </c:pt>
                <c:pt idx="24">
                  <c:v>34.02360143593109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 w="6350">
            <a:solidFill>
              <a:srgbClr val="CCCCCC"/>
            </a:solidFill>
          </a:ln>
        </c:spPr>
        <c:crossAx val="2140495176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2140495176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Annual Cost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2118791784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layout/>
      <c:overlay val="0"/>
      <c:txPr>
        <a:bodyPr/>
        <a:p>
          <a:pPr>
            <a:defRPr sz="800">
              <a:latin typeface="Century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594360" cy="584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611880"/>
            <a:ext cx="10820095" cy="1905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0D25"/>
                </a:solidFill>
                <a:latin typeface="Century Gothic"/>
              </a:rPr>
              <a:t>Behind-the-Meter Solar +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5A750"/>
                </a:solidFill>
                <a:latin typeface="Century Gothic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0D25"/>
                </a:solidFill>
                <a:latin typeface="Century Gothic"/>
              </a:rPr>
              <a:t>Acme 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123 Solar Way, San Jose, CA 95131  |  1234567890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Confidential  |  February 2026</a:t>
            </a:r>
          </a:p>
        </p:txBody>
      </p:sp>
      <p:pic>
        <p:nvPicPr>
          <p:cNvPr id="10" name="Picture 9" descr="38N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89788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Acme Industries  |  PG&amp;E B-19 TOU  |  150 kW-DC Solar + 200 kWh BESS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Day-1 savings of $18K (50.6%) with zero upfront capital. System offsets 60% of annual load and provides long-term rate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FINANCIAL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Current Annual Utility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Projected Year 1 Cost (w/ Solar)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Year 1 Net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Rate (Year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$0.105/kWh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Escalator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1.5%/yr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Contract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Upfront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SYSTEM &amp;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System Size (DC)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Specific Yield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578 kWh/kW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Battery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pv-rate-sim billing model; 8,760-hour simulation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1:  Acme Industries spends $35K/yr on electricity (B-19 TOU)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145 MWh annual load  |  0 kW peak demand  |  $0.2414/kWh blended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All-in blended rate of $0.2414/kWh. Demand charges represent a significant cost component. Rising utility rates compound exposure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Utility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164592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164592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$0.2414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Blended $/kWh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645920"/>
            <a:ext cx="2468880" cy="38100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COST BREAKDOWN  (WITHOUT SOLAR)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2491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88920"/>
          <a:ext cx="7772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43000"/>
                <a:gridCol w="914400"/>
                <a:gridCol w="1280160"/>
                <a:gridCol w="12801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 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 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Fixed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simulation; PG&amp;E B-19 TOU rate schedule; 8,760-hour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2:  Proposed 150 kW solar + 200 kWh storage at zero upfront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System sized to optimize load offset and demand charge reduction under current tariff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4754880" cy="4445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SOLAR ARRAY (PV)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AC Interconnection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125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DC:AC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1.2:1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4754880" cy="4445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BATTERY STORAGE (BESS)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Energy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Power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50 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4.0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10820095" cy="438912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8736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5A750"/>
                </a:solidFill>
                <a:latin typeface="Century Gothic"/>
              </a:rPr>
              <a:t>PPA Rate: $0.105/kWh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Escalator: 1.5%/yr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Term: 25 years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Upfront Cost: $0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Tariff: B-19 TOU Option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3:  Solar reduces Year 1 electricity cost by $18K (50.6%)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Comparison at current B-19 TOU rates  |  Savings accrue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COST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Without Solar  (B-19 TOU)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2011680" cy="1645920"/>
          </a:xfrm>
          <a:prstGeom prst="rect">
            <a:avLst/>
          </a:prstGeom>
          <a:solidFill>
            <a:srgbClr val="21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168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 Solar +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359413"/>
            <a:ext cx="2011680" cy="813554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6280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068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5A750"/>
                </a:solidFill>
                <a:latin typeface="Century Gothic"/>
              </a:rPr>
              <a:t>NET SAVINGS:  $18K / YEAR  (50.6%)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SAVINGS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77639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42232"/>
            <a:ext cx="109728" cy="109728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Energy charge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873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16552"/>
            <a:ext cx="109728" cy="109728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Demand charge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61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$3K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90871"/>
            <a:ext cx="109728" cy="109728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Export credits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63600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$-800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65191"/>
            <a:ext cx="109728" cy="109728"/>
          </a:xfrm>
          <a:prstGeom prst="rect">
            <a:avLst/>
          </a:prstGeom>
          <a:solidFill>
            <a:srgbClr val="CC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1032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NBC charges (NEM-2)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91032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($200)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ANNUAL SAVINGS BY COMPONENT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1216152"/>
            <a:ext cx="576072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715000" y="1280160"/>
          <a:ext cx="5760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715000" y="48463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entury Gothic"/>
              </a:rPr>
              <a:t>Current NEM regime: NEM-2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303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Savings grow each year as utility rates escalate while the solar cost remains contractually fixed.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 at current published tariff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4:  Cumulative savings reach $0 over 25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Illustrative projection at 4%/yr utility escalation  |  PPA at $0.105/kWh, 1.5%/yr escalator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At a conservative 4%/yr utility escalation, cumulative savings exceed $0. Actual historical rate growth has been materially higher.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1737360"/>
                <a:gridCol w="1554480"/>
                <a:gridCol w="822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Utility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(No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(w/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Annual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%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Cumulative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50.6%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51.5%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52.5%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54.3%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$50K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58.5%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62.3%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$74K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65.8%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25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$90K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$28K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$62K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69.0%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  |  Assumes 4%/yr linear utility rate escalation. PPA rate of $0.105/kWh at 1.5%/yr is contractually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5:  Solar offsets 60% of site load (88% self-consumed)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87 MWh annual production  |  145 MWh annual load  |  11 MWh exported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PRODUCTION VS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96012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466344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466344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578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Specific Yield (kWh/kW)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simulation; monthly aggregation of hourly production and load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6:  System produces 87 MWh/yr, offsetting 60% of site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Yield: 578 kWh/kW  |  Self-consumption: 88%  |  Export: 11 MWh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9538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9538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538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3276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3276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3276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ENERGY &amp; BILLING SUMMARY 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7627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240280"/>
          <a:ext cx="8961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960120"/>
                <a:gridCol w="960120"/>
                <a:gridCol w="960120"/>
                <a:gridCol w="685800"/>
                <a:gridCol w="96012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Solar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Import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 Cr.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Net Bill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5.1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145.0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86.7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59.8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$11,000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$5,200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$17,300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billing simulation  |  All values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Process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From proposal to commercial operation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System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150 kW solar with 200 kWh battery installed on-site at zero cost to you.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Tariff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Transition to the optimal PG&amp;E rate schedule that maximizes value from BTM generation.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912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Solar Feeds Operations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Production consumed on-site first, reducing grid imports during daylight hours. Excess charges the battery.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Battery Dispatches During Peak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50 kW battery discharges during expensive on-peak periods, shaving demand charges.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Predictable, Fixed-Rate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PPA at $0.105/kWh, 1.5%/yr escalator for 25 years. No rate volatility on solar kWh.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384048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48656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entury Gothic"/>
              </a:rPr>
              <a:t>System owned, operated, and maintained by 38 Degrees North for the full 25-year term. Zero operational risk or cost to host.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7:  Fixed-rate PPA hedges against rising utility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Rate certainty as a strategic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The PPA provides a contractually fixed energy cost for 25 years. Day-1 savings are locked in; future utility increases widen the margin.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812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SCENARIO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36576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920240"/>
            <a:ext cx="35661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Middle case: 4%/yr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Upper case: 7%/yr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Stress case: 10%/yr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PPA: $0.105/kWh, 1.5%/yr escalator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Grid residual escalated at 4%/yr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Term: 25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840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KEY CONSIDERATIONS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96512"/>
            <a:ext cx="36576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187952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Wildfire liability, grid hardening, and transmission costs drive rates upward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Regulatory cost recovery provides limited customer rate relief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 rate is contractually fixed for the full 25-year term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Day-1 economics are positive at current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model; PG&amp;E published tariff rates; illustrative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entury Gothic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Letter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Non-binding LOI confirms mutual interest and key commercial terms.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Site Assessment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Engineering conducts site visit; confirms layout, interconnection, and structural feasibility.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00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Finalize 25-year PPA at $0.105/kWh with 1.5% annual escalator.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Permitting &amp;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38DN manages all permits, utility coordination, and construction.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640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Commercial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System goes live. Savings begin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18484"/>
                </a:solidFill>
                <a:latin typeface="Century Gothic"/>
              </a:rPr>
              <a:t>Lock in rate certainty.  </a:t>
            </a:r>
            <a:r>
              <a:rPr sz="1100" b="1" i="0">
                <a:solidFill>
                  <a:srgbClr val="45A750"/>
                </a:solidFill>
                <a:latin typeface="Century Gothic"/>
              </a:rPr>
              <a:t>Zero upfront investment.</a:t>
            </a:r>
          </a:p>
        </p:txBody>
      </p:sp>
      <p:pic>
        <p:nvPicPr>
          <p:cNvPr id="21" name="Picture 20" descr="38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