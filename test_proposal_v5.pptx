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Energy Savings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5.8</c:v>
                </c:pt>
                <c:pt idx="1">
                  <c:v>6.032</c:v>
                </c:pt>
                <c:pt idx="2">
                  <c:v>6.246399999999998</c:v>
                </c:pt>
                <c:pt idx="3">
                  <c:v>6.442495999999999</c:v>
                </c:pt>
                <c:pt idx="4">
                  <c:v>6.619555839999998</c:v>
                </c:pt>
                <c:pt idx="5">
                  <c:v>6.776818073599999</c:v>
                </c:pt>
                <c:pt idx="6">
                  <c:v>6.9134907965439965</c:v>
                </c:pt>
                <c:pt idx="7">
                  <c:v>7.028750428405758</c:v>
                </c:pt>
                <c:pt idx="8">
                  <c:v>7.121740445541987</c:v>
                </c:pt>
                <c:pt idx="9">
                  <c:v>7.191570063363662</c:v>
                </c:pt>
                <c:pt idx="10">
                  <c:v>7.237312865898211</c:v>
                </c:pt>
                <c:pt idx="11">
                  <c:v>7.258005380534137</c:v>
                </c:pt>
                <c:pt idx="12">
                  <c:v>7.252645595755505</c:v>
                </c:pt>
                <c:pt idx="13">
                  <c:v>7.220191419585724</c:v>
                </c:pt>
                <c:pt idx="14">
                  <c:v>7.159559076369151</c:v>
                </c:pt>
                <c:pt idx="15">
                  <c:v>7.069621439423917</c:v>
                </c:pt>
                <c:pt idx="16">
                  <c:v>6.949206297000877</c:v>
                </c:pt>
                <c:pt idx="17">
                  <c:v>6.797094548880912</c:v>
                </c:pt>
                <c:pt idx="18">
                  <c:v>6.6120183308361415</c:v>
                </c:pt>
                <c:pt idx="19">
                  <c:v>6.392659064069587</c:v>
                </c:pt>
                <c:pt idx="20">
                  <c:v>6.137645426632371</c:v>
                </c:pt>
                <c:pt idx="21">
                  <c:v>5.845551243697661</c:v>
                </c:pt>
                <c:pt idx="22">
                  <c:v>5.514893293445573</c:v>
                </c:pt>
                <c:pt idx="23">
                  <c:v>5.144129025183393</c:v>
                </c:pt>
                <c:pt idx="24">
                  <c:v>4.731654186190725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Demand Savings</c:v>
                </c:pt>
              </c:strCache>
            </c:strRef>
          </c:tx>
          <c:spPr>
            <a:solidFill>
              <a:srgbClr val="51848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2.6</c:v>
                </c:pt>
                <c:pt idx="1">
                  <c:v>2.6</c:v>
                </c:pt>
                <c:pt idx="2">
                  <c:v>2.6</c:v>
                </c:pt>
                <c:pt idx="3">
                  <c:v>2.6</c:v>
                </c:pt>
                <c:pt idx="4">
                  <c:v>2.6</c:v>
                </c:pt>
                <c:pt idx="5">
                  <c:v>2.6</c:v>
                </c:pt>
                <c:pt idx="6">
                  <c:v>2.6</c:v>
                </c:pt>
                <c:pt idx="7">
                  <c:v>2.6</c:v>
                </c:pt>
                <c:pt idx="8">
                  <c:v>2.6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  <c:pt idx="12">
                  <c:v>2.6</c:v>
                </c:pt>
                <c:pt idx="13">
                  <c:v>2.6</c:v>
                </c:pt>
                <c:pt idx="14">
                  <c:v>2.6</c:v>
                </c:pt>
                <c:pt idx="15">
                  <c:v>2.6</c:v>
                </c:pt>
                <c:pt idx="16">
                  <c:v>2.6</c:v>
                </c:pt>
                <c:pt idx="17">
                  <c:v>2.6</c:v>
                </c:pt>
                <c:pt idx="18">
                  <c:v>2.6</c:v>
                </c:pt>
                <c:pt idx="19">
                  <c:v>2.6</c:v>
                </c:pt>
                <c:pt idx="20">
                  <c:v>2.6</c:v>
                </c:pt>
                <c:pt idx="21">
                  <c:v>2.6</c:v>
                </c:pt>
                <c:pt idx="22">
                  <c:v>2.6</c:v>
                </c:pt>
                <c:pt idx="23">
                  <c:v>2.6</c:v>
                </c:pt>
                <c:pt idx="24">
                  <c:v>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Export Credits</c:v>
                </c:pt>
              </c:strCache>
            </c:strRef>
          </c:tx>
          <c:spPr>
            <a:solidFill>
              <a:srgbClr val="1D6FA9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0.8</c:v>
                </c:pt>
                <c:pt idx="1">
                  <c:v>0.832</c:v>
                </c:pt>
                <c:pt idx="2">
                  <c:v>0.86528</c:v>
                </c:pt>
                <c:pt idx="3">
                  <c:v>0.8998912</c:v>
                </c:pt>
                <c:pt idx="4">
                  <c:v>0.9358868480000002</c:v>
                </c:pt>
                <c:pt idx="5">
                  <c:v>0.9733223219200001</c:v>
                </c:pt>
                <c:pt idx="6">
                  <c:v>1.0122552147968003</c:v>
                </c:pt>
                <c:pt idx="7">
                  <c:v>1.0527454233886722</c:v>
                </c:pt>
                <c:pt idx="8">
                  <c:v>1.094855240324219</c:v>
                </c:pt>
                <c:pt idx="9">
                  <c:v>1.138649449937188</c:v>
                </c:pt>
                <c:pt idx="10">
                  <c:v>1.1841954279346756</c:v>
                </c:pt>
                <c:pt idx="11">
                  <c:v>1.2315632450520626</c:v>
                </c:pt>
                <c:pt idx="12">
                  <c:v>1.2808257748541452</c:v>
                </c:pt>
                <c:pt idx="13">
                  <c:v>1.3320588058483112</c:v>
                </c:pt>
                <c:pt idx="14">
                  <c:v>1.3853411580822435</c:v>
                </c:pt>
                <c:pt idx="15">
                  <c:v>1.4407548044055332</c:v>
                </c:pt>
                <c:pt idx="16">
                  <c:v>1.4983849965817546</c:v>
                </c:pt>
                <c:pt idx="17">
                  <c:v>1.558320396445025</c:v>
                </c:pt>
                <c:pt idx="18">
                  <c:v>1.6206532123028259</c:v>
                </c:pt>
                <c:pt idx="19">
                  <c:v>1.685479340794939</c:v>
                </c:pt>
                <c:pt idx="20">
                  <c:v>1.7528985144267366</c:v>
                </c:pt>
                <c:pt idx="21">
                  <c:v>1.8230144550038063</c:v>
                </c:pt>
                <c:pt idx="22">
                  <c:v>1.8959350332039584</c:v>
                </c:pt>
                <c:pt idx="23">
                  <c:v>1.9717724345321168</c:v>
                </c:pt>
                <c:pt idx="24">
                  <c:v>2.0506433319134016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NBC Charges</c:v>
                </c:pt>
              </c:strCache>
            </c:strRef>
          </c:tx>
          <c:spPr>
            <a:solidFill>
              <a:srgbClr val="CC4444"/>
            </a:solidFill>
          </c:spP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-0.2</c:v>
                </c:pt>
                <c:pt idx="1">
                  <c:v>-0.208</c:v>
                </c:pt>
                <c:pt idx="2">
                  <c:v>-0.21632</c:v>
                </c:pt>
                <c:pt idx="3">
                  <c:v>-0.2249728</c:v>
                </c:pt>
                <c:pt idx="4">
                  <c:v>-0.23397171200000005</c:v>
                </c:pt>
                <c:pt idx="5">
                  <c:v>-0.24333058048000003</c:v>
                </c:pt>
                <c:pt idx="6">
                  <c:v>-0.25306380369920006</c:v>
                </c:pt>
                <c:pt idx="7">
                  <c:v>-0.26318635584716804</c:v>
                </c:pt>
                <c:pt idx="8">
                  <c:v>-0.2737138100810548</c:v>
                </c:pt>
                <c:pt idx="9">
                  <c:v>-0.284662362484297</c:v>
                </c:pt>
                <c:pt idx="10">
                  <c:v>-0.2960488569836689</c:v>
                </c:pt>
                <c:pt idx="11">
                  <c:v>-0.30789081126301565</c:v>
                </c:pt>
                <c:pt idx="12">
                  <c:v>-0.3202064437135363</c:v>
                </c:pt>
                <c:pt idx="13">
                  <c:v>-0.3330147014620778</c:v>
                </c:pt>
                <c:pt idx="14">
                  <c:v>-0.34633528952056086</c:v>
                </c:pt>
                <c:pt idx="15">
                  <c:v>-0.3601887011013833</c:v>
                </c:pt>
                <c:pt idx="16">
                  <c:v>-0.37459624914543865</c:v>
                </c:pt>
                <c:pt idx="17">
                  <c:v>-0.38958009911125624</c:v>
                </c:pt>
                <c:pt idx="18">
                  <c:v>-0.40516330307570647</c:v>
                </c:pt>
                <c:pt idx="19">
                  <c:v>-0.4213698351987348</c:v>
                </c:pt>
                <c:pt idx="20">
                  <c:v>-0.43822462860668415</c:v>
                </c:pt>
                <c:pt idx="21">
                  <c:v>-0.4557536137509516</c:v>
                </c:pt>
                <c:pt idx="22">
                  <c:v>-0.4739837583009896</c:v>
                </c:pt>
                <c:pt idx="23">
                  <c:v>-0.4929431086330292</c:v>
                </c:pt>
                <c:pt idx="24">
                  <c:v>-0.5126608329783504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t>Annual Savings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Site Load (MWh)</c:v>
                </c:pt>
              </c:strCache>
            </c:strRef>
          </c:tx>
          <c:spPr>
            <a:solidFill>
              <a:srgbClr val="212B4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8.5</c:v>
                </c:pt>
                <c:pt idx="1">
                  <c:v>7.8</c:v>
                </c:pt>
                <c:pt idx="2">
                  <c:v>9.2</c:v>
                </c:pt>
                <c:pt idx="3">
                  <c:v>10.5</c:v>
                </c:pt>
                <c:pt idx="4">
                  <c:v>12.0</c:v>
                </c:pt>
                <c:pt idx="5">
                  <c:v>14.5</c:v>
                </c:pt>
                <c:pt idx="6">
                  <c:v>16.0</c:v>
                </c:pt>
                <c:pt idx="7">
                  <c:v>15.5</c:v>
                </c:pt>
                <c:pt idx="8">
                  <c:v>13.0</c:v>
                </c:pt>
                <c:pt idx="9">
                  <c:v>11.0</c:v>
                </c:pt>
                <c:pt idx="10">
                  <c:v>9.0</c:v>
                </c:pt>
                <c:pt idx="11">
                  <c:v>8.0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 Production (MWh)</c:v>
                </c:pt>
              </c:strCache>
            </c:strRef>
          </c:tx>
          <c:spPr>
            <a:solidFill>
              <a:srgbClr val="45A750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4.2</c:v>
                </c:pt>
                <c:pt idx="1">
                  <c:v>5.1</c:v>
                </c:pt>
                <c:pt idx="2">
                  <c:v>6.8</c:v>
                </c:pt>
                <c:pt idx="3">
                  <c:v>8.5</c:v>
                </c:pt>
                <c:pt idx="4">
                  <c:v>9.8</c:v>
                </c:pt>
                <c:pt idx="5">
                  <c:v>10.5</c:v>
                </c:pt>
                <c:pt idx="6">
                  <c:v>10.2</c:v>
                </c:pt>
                <c:pt idx="7">
                  <c:v>9.5</c:v>
                </c:pt>
                <c:pt idx="8">
                  <c:v>7.8</c:v>
                </c:pt>
                <c:pt idx="9">
                  <c:v>6.0</c:v>
                </c:pt>
                <c:pt idx="10">
                  <c:v>4.5</c:v>
                </c:pt>
                <c:pt idx="11">
                  <c:v>3.8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t>MWh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Utility Only @ 10%/yr</c:v>
                </c:pt>
              </c:strCache>
            </c:strRef>
          </c:tx>
          <c:spPr>
            <a:ln w="16510">
              <a:solidFill>
                <a:srgbClr val="1D6FA9"/>
              </a:solidFill>
              <a:prstDash val="dashDot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35.0</c:v>
                </c:pt>
                <c:pt idx="1">
                  <c:v>38.5</c:v>
                </c:pt>
                <c:pt idx="2">
                  <c:v>42.35000000000001</c:v>
                </c:pt>
                <c:pt idx="3">
                  <c:v>46.585000000000015</c:v>
                </c:pt>
                <c:pt idx="4">
                  <c:v>51.24350000000001</c:v>
                </c:pt>
                <c:pt idx="5">
                  <c:v>56.36785000000002</c:v>
                </c:pt>
                <c:pt idx="6">
                  <c:v>62.00463500000003</c:v>
                </c:pt>
                <c:pt idx="7">
                  <c:v>68.20509850000003</c:v>
                </c:pt>
                <c:pt idx="8">
                  <c:v>75.02560835000006</c:v>
                </c:pt>
                <c:pt idx="9">
                  <c:v>82.52816918500007</c:v>
                </c:pt>
                <c:pt idx="10">
                  <c:v>90.78098610350008</c:v>
                </c:pt>
                <c:pt idx="11">
                  <c:v>99.85908471385008</c:v>
                </c:pt>
                <c:pt idx="12">
                  <c:v>109.8449931852351</c:v>
                </c:pt>
                <c:pt idx="13">
                  <c:v>120.82949250375863</c:v>
                </c:pt>
                <c:pt idx="14">
                  <c:v>132.91244175413448</c:v>
                </c:pt>
                <c:pt idx="15">
                  <c:v>146.20368592954796</c:v>
                </c:pt>
                <c:pt idx="16">
                  <c:v>160.82405452250276</c:v>
                </c:pt>
                <c:pt idx="17">
                  <c:v>176.9064599747531</c:v>
                </c:pt>
                <c:pt idx="18">
                  <c:v>194.5971059722284</c:v>
                </c:pt>
                <c:pt idx="19">
                  <c:v>214.05681656945123</c:v>
                </c:pt>
                <c:pt idx="20">
                  <c:v>235.46249822639638</c:v>
                </c:pt>
                <c:pt idx="21">
                  <c:v>259.00874804903606</c:v>
                </c:pt>
                <c:pt idx="22">
                  <c:v>284.90962285393965</c:v>
                </c:pt>
                <c:pt idx="23">
                  <c:v>313.40058513933366</c:v>
                </c:pt>
                <c:pt idx="24">
                  <c:v>344.74064365326706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Utility Only @ 7%/yr</c:v>
                </c:pt>
              </c:strCache>
            </c:strRef>
          </c:tx>
          <c:spPr>
            <a:ln w="22860">
              <a:solidFill>
                <a:srgbClr val="050D25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35.0</c:v>
                </c:pt>
                <c:pt idx="1">
                  <c:v>37.45</c:v>
                </c:pt>
                <c:pt idx="2">
                  <c:v>40.0715</c:v>
                </c:pt>
                <c:pt idx="3">
                  <c:v>42.876505</c:v>
                </c:pt>
                <c:pt idx="4">
                  <c:v>45.87786035000001</c:v>
                </c:pt>
                <c:pt idx="5">
                  <c:v>49.08931057450001</c:v>
                </c:pt>
                <c:pt idx="6">
                  <c:v>52.52556231471502</c:v>
                </c:pt>
                <c:pt idx="7">
                  <c:v>56.202351676745074</c:v>
                </c:pt>
                <c:pt idx="8">
                  <c:v>60.13651629411723</c:v>
                </c:pt>
                <c:pt idx="9">
                  <c:v>64.34607243470545</c:v>
                </c:pt>
                <c:pt idx="10">
                  <c:v>68.85029750513483</c:v>
                </c:pt>
                <c:pt idx="11">
                  <c:v>73.66981833049427</c:v>
                </c:pt>
                <c:pt idx="12">
                  <c:v>78.82670561362887</c:v>
                </c:pt>
                <c:pt idx="13">
                  <c:v>84.34457500658289</c:v>
                </c:pt>
                <c:pt idx="14">
                  <c:v>90.24869525704369</c:v>
                </c:pt>
                <c:pt idx="15">
                  <c:v>96.56610392503677</c:v>
                </c:pt>
                <c:pt idx="16">
                  <c:v>103.32573119978936</c:v>
                </c:pt>
                <c:pt idx="17">
                  <c:v>110.5585323837746</c:v>
                </c:pt>
                <c:pt idx="18">
                  <c:v>118.29762965063884</c:v>
                </c:pt>
                <c:pt idx="19">
                  <c:v>126.57846372618357</c:v>
                </c:pt>
                <c:pt idx="20">
                  <c:v>135.43895618701643</c:v>
                </c:pt>
                <c:pt idx="21">
                  <c:v>144.9196831201076</c:v>
                </c:pt>
                <c:pt idx="22">
                  <c:v>155.06406093851515</c:v>
                </c:pt>
                <c:pt idx="23">
                  <c:v>165.91854520421117</c:v>
                </c:pt>
                <c:pt idx="24">
                  <c:v>177.532843368506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Utility Only @ 4%/yr</c:v>
                </c:pt>
              </c:strCache>
            </c:strRef>
          </c:tx>
          <c:spPr>
            <a:ln w="16510">
              <a:solidFill>
                <a:srgbClr val="518484"/>
              </a:solidFill>
              <a:prstDash val="dash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35.0</c:v>
                </c:pt>
                <c:pt idx="1">
                  <c:v>36.4</c:v>
                </c:pt>
                <c:pt idx="2">
                  <c:v>37.85600000000001</c:v>
                </c:pt>
                <c:pt idx="3">
                  <c:v>39.37024</c:v>
                </c:pt>
                <c:pt idx="4">
                  <c:v>40.945049600000004</c:v>
                </c:pt>
                <c:pt idx="5">
                  <c:v>42.582851584000004</c:v>
                </c:pt>
                <c:pt idx="6">
                  <c:v>44.286165647360015</c:v>
                </c:pt>
                <c:pt idx="7">
                  <c:v>46.057612273254406</c:v>
                </c:pt>
                <c:pt idx="8">
                  <c:v>47.89991676418459</c:v>
                </c:pt>
                <c:pt idx="9">
                  <c:v>49.81591343475197</c:v>
                </c:pt>
                <c:pt idx="10">
                  <c:v>51.808549972142046</c:v>
                </c:pt>
                <c:pt idx="11">
                  <c:v>53.880891971027744</c:v>
                </c:pt>
                <c:pt idx="12">
                  <c:v>56.03612764986885</c:v>
                </c:pt>
                <c:pt idx="13">
                  <c:v>58.27757275586361</c:v>
                </c:pt>
                <c:pt idx="14">
                  <c:v>60.60867566609816</c:v>
                </c:pt>
                <c:pt idx="15">
                  <c:v>63.03302269274208</c:v>
                </c:pt>
                <c:pt idx="16">
                  <c:v>65.55434360045176</c:v>
                </c:pt>
                <c:pt idx="17">
                  <c:v>68.17651734446984</c:v>
                </c:pt>
                <c:pt idx="18">
                  <c:v>70.90357803824864</c:v>
                </c:pt>
                <c:pt idx="19">
                  <c:v>73.73972115977858</c:v>
                </c:pt>
                <c:pt idx="20">
                  <c:v>76.68931000616973</c:v>
                </c:pt>
                <c:pt idx="21">
                  <c:v>79.75688240641652</c:v>
                </c:pt>
                <c:pt idx="22">
                  <c:v>82.94715770267318</c:v>
                </c:pt>
                <c:pt idx="23">
                  <c:v>86.26504401078012</c:v>
                </c:pt>
                <c:pt idx="24">
                  <c:v>89.71564577121133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With PPA + Solar</c:v>
                </c:pt>
              </c:strCache>
            </c:strRef>
          </c:tx>
          <c:spPr>
            <a:ln w="27940">
              <a:solidFill>
                <a:srgbClr val="45A750"/>
              </a:solidFill>
              <a:prstDash val="solid"/>
            </a:ln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</c:strCache>
            </c: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17.3</c:v>
                </c:pt>
                <c:pt idx="1">
                  <c:v>17.7644125</c:v>
                </c:pt>
                <c:pt idx="2">
                  <c:v>18.2439876875</c:v>
                </c:pt>
                <c:pt idx="3">
                  <c:v>18.7392808628125</c:v>
                </c:pt>
                <c:pt idx="4">
                  <c:v>19.25086877015469</c:v>
                </c:pt>
                <c:pt idx="5">
                  <c:v>19.779350443883008</c:v>
                </c:pt>
                <c:pt idx="6">
                  <c:v>20.32534808840429</c:v>
                </c:pt>
                <c:pt idx="7">
                  <c:v>20.889507993107916</c:v>
                </c:pt>
                <c:pt idx="8">
                  <c:v>21.4725014837172</c:v>
                </c:pt>
                <c:pt idx="9">
                  <c:v>22.075025911514125</c:v>
                </c:pt>
                <c:pt idx="10">
                  <c:v>22.697805681949657</c:v>
                </c:pt>
                <c:pt idx="11">
                  <c:v>23.341593324212226</c:v>
                </c:pt>
                <c:pt idx="12">
                  <c:v>24.007170603390076</c:v>
                </c:pt>
                <c:pt idx="13">
                  <c:v>24.695349676928178</c:v>
                </c:pt>
                <c:pt idx="14">
                  <c:v>25.40697429714884</c:v>
                </c:pt>
                <c:pt idx="15">
                  <c:v>26.14292106167548</c:v>
                </c:pt>
                <c:pt idx="16">
                  <c:v>26.904100713672797</c:v>
                </c:pt>
                <c:pt idx="17">
                  <c:v>27.691459493892957</c:v>
                </c:pt>
                <c:pt idx="18">
                  <c:v>28.50598054659703</c:v>
                </c:pt>
                <c:pt idx="19">
                  <c:v>29.34868538150349</c:v>
                </c:pt>
                <c:pt idx="20">
                  <c:v>30.220635394001846</c:v>
                </c:pt>
                <c:pt idx="21">
                  <c:v>31.12293344595871</c:v>
                </c:pt>
                <c:pt idx="22">
                  <c:v>32.0567255095368</c:v>
                </c:pt>
                <c:pt idx="23">
                  <c:v>33.023202376544106</c:v>
                </c:pt>
                <c:pt idx="24">
                  <c:v>34.02360143593109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t>Contract Year</a:t>
                </a:r>
              </a:p>
            </c:rich>
          </c:tx>
          <c:layout/>
          <c:overlay val="0"/>
        </c:title>
        <c:majorTickMark val="out"/>
        <c:minorTickMark val="none"/>
        <c:tickLblPos val="low"/>
        <c:spPr>
          <a:ln w="6350">
            <a:solidFill>
              <a:srgbClr val="CCCCCC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5080">
              <a:solidFill>
                <a:srgbClr val="E8E8E8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7000">
                    <a:latin typeface="Century Gothic"/>
                  </a:defRPr>
                </a:pPr>
                <a:r>
                  <a:t>Annual Cost ($K)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 w="6350">
            <a:solidFill>
              <a:srgbClr val="CCCCCC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594360" cy="5840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3611880"/>
            <a:ext cx="10820095" cy="1905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9456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50D25"/>
                </a:solidFill>
                <a:latin typeface="Century Gothic"/>
              </a:rPr>
              <a:t>Behind-the-Meter Solar +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5A750"/>
                </a:solidFill>
                <a:latin typeface="Century Gothic"/>
              </a:rPr>
              <a:t>Investment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8620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0D25"/>
                </a:solidFill>
                <a:latin typeface="Century Gothic"/>
              </a:rPr>
              <a:t>Acme Industries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9768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123 Solar Way, San Jose, CA 95131  |  1234567890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Confidential  |  February 2026</a:t>
            </a:r>
          </a:p>
        </p:txBody>
      </p:sp>
      <p:pic>
        <p:nvPicPr>
          <p:cNvPr id="10" name="Picture 9" descr="38NOR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89788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Acme Industries  |  PG&amp;E B-19 TOU  |  150 kW-DC Solar + 200 kWh BESS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Day-1 savings of $18K (50.6%) with zero upfront capital. System offsets 60% of annual load and provides long-term rate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FINANCIAL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Current Annual Utility Bill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Projected Year 1 Cost (w/ Solar)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Year 1 Net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$18K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Savings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50.6%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Rate (Year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$0.105/kWh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PPA Escalator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1.5%/yr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Contract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25 years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Upfront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$0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459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SYSTEM &amp; ENERGY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1892808"/>
            <a:ext cx="50292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01168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System Size (DC)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11680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34086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34086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7004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7004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99923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299923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32841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Specific Yield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3328415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578 kWh/kW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657599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3657599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9867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98678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31596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entury Gothic"/>
              </a:rPr>
              <a:t>Battery Storage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315968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pv-rate-sim billing model; 8,760-hour simulation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1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1:  Acme Industries spends $35K/yr on electricity (B-19 TOU)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145 MWh annual load  |  0 kW peak demand  |  $0.2414/kWh blended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All-in blended rate of $0.2414/kWh. Demand charges represent a significant cost component. Rising utility rates compound exposure annually.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4592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Utility Bill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164592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0 kW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Peak Demand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164592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$0.2414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Blended $/kWh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1645920"/>
            <a:ext cx="2468880" cy="38100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175564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212140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1460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COST BREAKDOWN  (WITHOUT SOLAR)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2491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85800" y="2788920"/>
          <a:ext cx="77724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1143000"/>
                <a:gridCol w="914400"/>
                <a:gridCol w="1280160"/>
                <a:gridCol w="12801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 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 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Fixed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$1,400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$150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simulation; PG&amp;E B-19 TOU rate schedule; 8,760-hour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2:  Proposed 150 kW solar + 200 kWh storage at zero upfront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System sized to optimize load offset and demand charge reduction under current tariff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4754880" cy="4445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SOLAR ARRAY (PV)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150 kW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AC Interconnection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125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DC:AC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1.2:1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143000"/>
            <a:ext cx="4754880" cy="2560320"/>
          </a:xfrm>
          <a:prstGeom prst="rect">
            <a:avLst/>
          </a:prstGeom>
          <a:noFill/>
          <a:ln w="12700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4754880" cy="4445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18484"/>
                </a:solidFill>
                <a:latin typeface="Century Gothic"/>
              </a:rPr>
              <a:t>BATTERY STORAGE (BESS)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Energy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45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200 kWh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Power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0848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50 kW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6666"/>
                </a:solidFill>
                <a:latin typeface="Century Gothic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23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4.0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10820095" cy="438912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8736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45A750"/>
                </a:solidFill>
                <a:latin typeface="Century Gothic"/>
              </a:rPr>
              <a:t>PPA Rate: $0.105/kWh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Escalator: 1.5%/yr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Term: 25 years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Upfront Cost: $0</a:t>
            </a:r>
            <a:r>
              <a:rPr sz="950" b="0" i="0">
                <a:solidFill>
                  <a:srgbClr val="999999"/>
                </a:solidFill>
                <a:latin typeface="Century Gothic"/>
              </a:rPr>
              <a:t>   |   </a:t>
            </a:r>
            <a:r>
              <a:rPr sz="950" b="1" i="0">
                <a:solidFill>
                  <a:srgbClr val="FFFFFF"/>
                </a:solidFill>
                <a:latin typeface="Century Gothic"/>
              </a:rPr>
              <a:t>Tariff: B-19 TOU Option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3:  Solar reduces Year 1 electricity cost by $18K (50.6%)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Comparison at current B-19 TOU rates  |  Savings accrue from 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COST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Without Solar  (B-19 TOU)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27048"/>
            <a:ext cx="2011680" cy="1645920"/>
          </a:xfrm>
          <a:prstGeom prst="rect">
            <a:avLst/>
          </a:prstGeom>
          <a:solidFill>
            <a:srgbClr val="212B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082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$35K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168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258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66666"/>
                </a:solidFill>
                <a:latin typeface="Century Gothic"/>
              </a:rPr>
              <a:t>With Solar +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359413"/>
            <a:ext cx="2011680" cy="813554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56280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entury Gothic"/>
              </a:rPr>
              <a:t>$17K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0686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Century Gothic"/>
              </a:rPr>
              <a:t>per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5A750"/>
                </a:solidFill>
                <a:latin typeface="Century Gothic"/>
              </a:rPr>
              <a:t>NET SAVINGS:  $18K / YEAR  (50.6%)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903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YEAR 1 SAVINGS BREAKDOWN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77639"/>
            <a:ext cx="457200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42232"/>
            <a:ext cx="109728" cy="109728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8736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Energy charge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0873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$6K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416552"/>
            <a:ext cx="109728" cy="109728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3616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Demand charge reduction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361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$3K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90871"/>
            <a:ext cx="109728" cy="109728"/>
          </a:xfrm>
          <a:prstGeom prst="rect">
            <a:avLst/>
          </a:prstGeom>
          <a:solidFill>
            <a:srgbClr val="1D6F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3600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Export credits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63600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$-800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965191"/>
            <a:ext cx="109728" cy="109728"/>
          </a:xfrm>
          <a:prstGeom prst="rect">
            <a:avLst/>
          </a:prstGeom>
          <a:solidFill>
            <a:srgbClr val="CC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10327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NBC charges (NEM-2)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910327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50D25"/>
                </a:solidFill>
                <a:latin typeface="Century Gothic"/>
              </a:rPr>
              <a:t>($200)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960120"/>
            <a:ext cx="5760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ANNUAL SAVINGS BY COMPONENT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1216152"/>
            <a:ext cx="576072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5715000" y="1280160"/>
          <a:ext cx="57607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715000" y="4846320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999999"/>
                </a:solidFill>
                <a:latin typeface="Century Gothic"/>
              </a:rPr>
              <a:t>Current NEM regime: NEM-2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303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Savings grow each year as utility rates escalate while the solar cost remains contractually fixed.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billing simulation at current published tariff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4:  Cumulative savings reach $0 over 25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Illustrative projection at 4%/yr utility escalation  |  PPA at $0.105/kWh, 1.5%/yr escalator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At a conservative 4%/yr utility escalation, cumulative savings exceed $0. Actual historical rate growth has been materially higher.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645920"/>
          <a:ext cx="8229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1737360"/>
                <a:gridCol w="1554480"/>
                <a:gridCol w="822960"/>
                <a:gridCol w="173736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Utility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(No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Total Cost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(w/ Solar)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Annual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%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Cumulative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Savings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$17K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50.6%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$36K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51.5%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$18K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52.5%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$19K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54.3%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$50K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$21K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58.5%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$61K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$23K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$38K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62.3%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20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$74K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$25K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$49K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65.8%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25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$90K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$28K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$62K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69.0%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  |  Assumes 4%/yr linear utility rate escalation. PPA rate of $0.105/kWh at 1.5%/yr is contractually fixed.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5:  Solar offsets 60% of site load (88% self-consumed)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87 MWh annual production  |  145 MWh annual load  |  11 MWh exported to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108200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PRODUCTION VS 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1615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960120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85800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9538" y="466344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538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9538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3276" y="466344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3276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3276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7015" y="4663440"/>
            <a:ext cx="2468880" cy="381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7015" y="477316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578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7015" y="51389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Specific Yield (kWh/kW)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simulation; monthly aggregation of hourly production and load profiles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6:  System produces 87 MWh/yr, offsetting 60% of site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Yield: 578 kWh/kW  |  Self-consumption: 88%  |  Export: 11 MWh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87 MWh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9538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69538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145 MWh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69538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Annual 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3276" y="1051560"/>
            <a:ext cx="2468880" cy="381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3276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5A750"/>
                </a:solidFill>
                <a:latin typeface="Century Gothic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3276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Solar Offset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7015" y="1051560"/>
            <a:ext cx="2468880" cy="38100"/>
          </a:xfrm>
          <a:prstGeom prst="rect">
            <a:avLst/>
          </a:prstGeom>
          <a:solidFill>
            <a:srgbClr val="518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7015" y="11612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50D25"/>
                </a:solidFill>
                <a:latin typeface="Century Gothic"/>
              </a:rPr>
              <a:t>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7015" y="152704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Century Gothic"/>
              </a:rPr>
              <a:t>Self-Consumption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965960"/>
            <a:ext cx="10820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MONTHLY ENERGY &amp; BILLING SUMMARY  (YEAR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176272"/>
            <a:ext cx="10820095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240280"/>
          <a:ext cx="89611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960120"/>
                <a:gridCol w="960120"/>
                <a:gridCol w="960120"/>
                <a:gridCol w="960120"/>
                <a:gridCol w="685800"/>
                <a:gridCol w="960120"/>
                <a:gridCol w="960120"/>
                <a:gridCol w="960120"/>
                <a:gridCol w="960120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Month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Load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Solar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Import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(MWh)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Peak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kW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Energy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Demand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Export Cr.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Net Bill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entury Gothic"/>
                        </a:rPr>
                        <a:t>($)</a:t>
                      </a:r>
                    </a:p>
                  </a:txBody>
                  <a:tcPr anchor="ctr" marL="54864" marR="54864" marT="27432" marB="27432">
                    <a:solidFill>
                      <a:srgbClr val="212B48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Jan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Feb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5.1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Mar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Apr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May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12.0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1.3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Jun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14.5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Jul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16.0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10.2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1.4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Aug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15.5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9.5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1.2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Sep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13.0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7.8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Oct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11.0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6.0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Nov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9.0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4.5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5.2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Dec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8.0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3.8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4.8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0.6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solidFill>
                      <a:srgbClr val="F7F8FA"/>
                    </a:solidFill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TOTAL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145.0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86.7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59.8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10.8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—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$11,000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$5,200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50D25"/>
                          </a:solidFill>
                          <a:latin typeface="Century Gothic"/>
                        </a:rPr>
                        <a:t>$17,300</a:t>
                      </a:r>
                    </a:p>
                  </a:txBody>
                  <a:tcPr anchor="ctr" marL="54864" marR="54864" marT="27432" marB="27432">
                    <a:lnL w="6350" cap="flat" cmpd="sng">
                      <a:solidFill>
                        <a:srgbClr val="DEE2E6"/>
                      </a:solidFill>
                    </a:lnL>
                    <a:lnR w="6350" cap="flat" cmpd="sng">
                      <a:solidFill>
                        <a:srgbClr val="DEE2E6"/>
                      </a:solidFill>
                    </a:lnR>
                    <a:lnT w="6350" cap="flat" cmpd="sng">
                      <a:solidFill>
                        <a:srgbClr val="DEE2E6"/>
                      </a:solidFill>
                    </a:lnT>
                    <a:lnB w="6350" cap="flat" cmpd="sng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8,760-hour billing simulation  |  All values Year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Process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From proposal to commercial operation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System Installation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150 kW solar with 200 kWh battery installed on-site at zero cost to you.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Tariff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Transition to the optimal PG&amp;E rate schedule that maximizes value from BTM generation.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20040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1912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Solar Feeds Operations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4198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Production consumed on-site first, reducing grid imports during daylight hours. Excess charges the battery.</a:t>
            </a:r>
          </a:p>
        </p:txBody>
      </p:sp>
      <p:sp>
        <p:nvSpPr>
          <p:cNvPr id="14" name="Oval 13"/>
          <p:cNvSpPr/>
          <p:nvPr/>
        </p:nvSpPr>
        <p:spPr>
          <a:xfrm>
            <a:off x="644652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Battery Dispatches During Peak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50 kW battery discharges during expensive on-peak periods, shaving demand charges.</a:t>
            </a:r>
          </a:p>
        </p:txBody>
      </p:sp>
      <p:sp>
        <p:nvSpPr>
          <p:cNvPr id="17" name="Oval 16"/>
          <p:cNvSpPr/>
          <p:nvPr/>
        </p:nvSpPr>
        <p:spPr>
          <a:xfrm>
            <a:off x="6446520" y="219456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8" y="21854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0D25"/>
                </a:solidFill>
                <a:latin typeface="Century Gothic"/>
              </a:rPr>
              <a:t>Predictable, Fixed-Rate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8" y="241401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entury Gothic"/>
              </a:rPr>
              <a:t>PPA at $0.105/kWh, 1.5%/yr escalator for 25 years. No rate volatility on solar kWh.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212080"/>
            <a:ext cx="10820095" cy="384048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248656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entury Gothic"/>
              </a:rPr>
              <a:t>System owned, operated, and maintained by 38 Degrees North for the full 25-year term. Zero operational risk or cost to host.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50D25"/>
                </a:solidFill>
                <a:latin typeface="Century Gothic"/>
              </a:rPr>
              <a:t>Exhibit 7:  Fixed-rate PPA hedges against rising utility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entury Gothic"/>
              </a:rPr>
              <a:t>PG&amp;E  |  Rate certainty as a strategic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60120"/>
            <a:ext cx="10820095" cy="438912"/>
          </a:xfrm>
          <a:prstGeom prst="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960120"/>
            <a:ext cx="50800" cy="438912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024128"/>
            <a:ext cx="105457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50D25"/>
                </a:solidFill>
                <a:latin typeface="Century Gothic"/>
              </a:rPr>
              <a:t>The PPA provides a contractually fixed energy cost for 25 years. Day-1 savings are locked in; future utility increases widen the margin.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" y="1554480"/>
          <a:ext cx="65836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554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SCENARIO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10512"/>
            <a:ext cx="38404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920240"/>
            <a:ext cx="374904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Middle case: 4%/yr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Upper case: 7%/yr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Stress case: 10%/yr utility escalation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PPA: $0.105/kWh, 1.5%/yr escalator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Grid residual escalated at 4%/yr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Term: 25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8404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18484"/>
                </a:solidFill>
                <a:latin typeface="Century Gothic"/>
              </a:rPr>
              <a:t>KEY CONSIDERATIONS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96512"/>
            <a:ext cx="3840480" cy="127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4187952"/>
            <a:ext cx="3749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Wildfire liability, grid hardening, and transmission costs drive rates upward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Regulatory cost recovery provides limited customer rate relief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PPA rate is contractually fixed for the full 25-year term</a:t>
            </a:r>
          </a:p>
          <a:p>
            <a:pPr algn="l">
              <a:spcAft>
                <a:spcPts val="500"/>
              </a:spcAft>
            </a:pPr>
            <a:r>
              <a:rPr sz="1000">
                <a:solidFill>
                  <a:srgbClr val="050D25"/>
                </a:solidFill>
                <a:latin typeface="Century Gothic"/>
              </a:rPr>
              <a:t>•  Day-1 economics are positive at current 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82009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999999"/>
                </a:solidFill>
                <a:latin typeface="Century Gothic"/>
              </a:rPr>
              <a:t>Source: 38DN projection model; PG&amp;E published tariff rates; illustrative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9999"/>
                </a:solidFill>
                <a:latin typeface="Century Gothic"/>
              </a:rPr>
              <a:t>38 DEGREES NORTH</a:t>
            </a:r>
            <a:r>
              <a:rPr sz="700" b="0" i="0">
                <a:solidFill>
                  <a:srgbClr val="999999"/>
                </a:solidFill>
                <a:latin typeface="Century Gothic"/>
              </a:rPr>
              <a:t>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99999"/>
                </a:solidFill>
                <a:latin typeface="Century Gothic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45A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74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entury Gothic"/>
              </a:rPr>
              <a:t>Next Steps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88720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1795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Letter of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40817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Non-binding LOI confirms mutual interest and key commercial terms.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84832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0756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Site Assessment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3042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Engineering conducts site visit; confirms layout, interconnection, and structural feasibility.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980944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97180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Execute PPA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2004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Finalize 25-year PPA at $0.105/kWh with 1.5% annual escalator.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877056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Permitting &amp; Construction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38DN manages all permits, utility coordination, and construction.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73168"/>
            <a:ext cx="347472" cy="347472"/>
          </a:xfrm>
          <a:prstGeom prst="ellipse">
            <a:avLst/>
          </a:prstGeom>
          <a:solidFill>
            <a:srgbClr val="45A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entury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76402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entury Gothic"/>
              </a:rPr>
              <a:t>Commercial Operation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992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Century Gothic"/>
              </a:rPr>
              <a:t>System goes live. Savings begin immediately.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18484"/>
                </a:solidFill>
                <a:latin typeface="Century Gothic"/>
              </a:rPr>
              <a:t>Lock in rate certainty.  </a:t>
            </a:r>
            <a:r>
              <a:rPr sz="1100" b="1" i="0">
                <a:solidFill>
                  <a:srgbClr val="45A750"/>
                </a:solidFill>
                <a:latin typeface="Century Gothic"/>
              </a:rPr>
              <a:t>Zero upfront investment.</a:t>
            </a:r>
          </a:p>
        </p:txBody>
      </p:sp>
      <p:pic>
        <p:nvPicPr>
          <p:cNvPr id="21" name="Picture 20" descr="38NO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6263640"/>
            <a:ext cx="2286000" cy="7892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