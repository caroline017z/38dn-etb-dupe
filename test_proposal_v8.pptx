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Site Load (MWh)</c:v>
                </c:pt>
              </c:strCache>
            </c:strRef>
          </c:tx>
          <c:spPr>
            <a:solidFill>
              <a:srgbClr val="212B48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1.5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1.5</c:v>
                </c:pt>
                <c:pt idx="5">
                  <c:v>1.5</c:v>
                </c:pt>
                <c:pt idx="6">
                  <c:v>1.5</c:v>
                </c:pt>
                <c:pt idx="7">
                  <c:v>1.5</c:v>
                </c:pt>
                <c:pt idx="8">
                  <c:v>1.5</c:v>
                </c:pt>
                <c:pt idx="9">
                  <c:v>1.5</c:v>
                </c:pt>
                <c:pt idx="10">
                  <c:v>1.5</c:v>
                </c:pt>
                <c:pt idx="11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Solar Production (MWh)</c:v>
                </c:pt>
              </c:strCache>
            </c:strRef>
          </c:tx>
          <c:spPr>
            <a:solidFill>
              <a:srgbClr val="45A750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1.2</c:v>
                </c:pt>
                <c:pt idx="1">
                  <c:v>1.2</c:v>
                </c:pt>
                <c:pt idx="2">
                  <c:v>1.2</c:v>
                </c:pt>
                <c:pt idx="3">
                  <c:v>1.2</c:v>
                </c:pt>
                <c:pt idx="4">
                  <c:v>1.2</c:v>
                </c:pt>
                <c:pt idx="5">
                  <c:v>1.2</c:v>
                </c:pt>
                <c:pt idx="6">
                  <c:v>1.2</c:v>
                </c:pt>
                <c:pt idx="7">
                  <c:v>1.2</c:v>
                </c:pt>
                <c:pt idx="8">
                  <c:v>1.2</c:v>
                </c:pt>
                <c:pt idx="9">
                  <c:v>1.2</c:v>
                </c:pt>
                <c:pt idx="10">
                  <c:v>1.2</c:v>
                </c:pt>
                <c:pt idx="11">
                  <c:v>1.2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113994440"/>
        <c:crosses val="autoZero"/>
        <c:auto val="1"/>
        <c:lblAlgn val="ctr"/>
        <c:lblOffset val="100"/>
        <c:noMultiLvlLbl val="0"/>
        <c:txPr>
          <a:bodyPr/>
          <a:p>
            <a:pPr>
              <a:defRPr sz="800">
                <a:latin typeface="Century Gothic"/>
              </a:defRPr>
            </a:pPr>
          </a:p>
        </c:txPr>
      </c:catAx>
      <c:valAx>
        <c:axId val="-2113994440"/>
        <c:scaling/>
        <c:delete val="0"/>
        <c:axPos val="l"/>
        <c:majorGridlines>
          <c:spPr>
            <a:ln w="5080">
              <a:solidFill>
                <a:srgbClr val="E8E8E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>
                    <a:latin typeface="Century Gothic"/>
                  </a:defRPr>
                </a:pPr>
                <a:r>
                  <a:t>MWh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068027336"/>
        <c:crosses val="autoZero"/>
        <c:txPr>
          <a:bodyPr/>
          <a:p>
            <a:pPr>
              <a:defRPr sz="800">
                <a:latin typeface="Century Gothic"/>
              </a:defRPr>
            </a:pPr>
          </a:p>
        </c:txPr>
      </c:valAx>
    </c:plotArea>
    <c:legend>
      <c:legendPos val="b"/>
      <c:overlay val="0"/>
      <c:txPr>
        <a:bodyPr/>
        <a:p>
          <a:pPr>
            <a:defRPr sz="800">
              <a:latin typeface="Century Gothi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Utility Only @ 10%/yr</c:v>
                </c:pt>
              </c:strCache>
            </c:strRef>
          </c:tx>
          <c:spPr>
            <a:ln w="16510">
              <a:solidFill>
                <a:srgbClr val="1D6FA9"/>
              </a:solidFill>
              <a:prstDash val="dashDot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6.0</c:v>
                </c:pt>
                <c:pt idx="1">
                  <c:v>6.6000000000000005</c:v>
                </c:pt>
                <c:pt idx="2">
                  <c:v>7.260000000000001</c:v>
                </c:pt>
                <c:pt idx="3">
                  <c:v>7.986000000000002</c:v>
                </c:pt>
                <c:pt idx="4">
                  <c:v>8.784600000000003</c:v>
                </c:pt>
                <c:pt idx="5">
                  <c:v>9.663060000000003</c:v>
                </c:pt>
                <c:pt idx="6">
                  <c:v>10.629366000000006</c:v>
                </c:pt>
                <c:pt idx="7">
                  <c:v>11.692302600000007</c:v>
                </c:pt>
                <c:pt idx="8">
                  <c:v>12.86153286000001</c:v>
                </c:pt>
                <c:pt idx="9">
                  <c:v>14.14768614600001</c:v>
                </c:pt>
                <c:pt idx="10">
                  <c:v>15.562454760600014</c:v>
                </c:pt>
                <c:pt idx="11">
                  <c:v>17.118700236660015</c:v>
                </c:pt>
                <c:pt idx="12">
                  <c:v>18.830570260326017</c:v>
                </c:pt>
                <c:pt idx="13">
                  <c:v>20.713627286358623</c:v>
                </c:pt>
                <c:pt idx="14">
                  <c:v>22.784990014994488</c:v>
                </c:pt>
                <c:pt idx="15">
                  <c:v>25.06348901649394</c:v>
                </c:pt>
                <c:pt idx="16">
                  <c:v>27.56983791814333</c:v>
                </c:pt>
                <c:pt idx="17">
                  <c:v>30.32682170995767</c:v>
                </c:pt>
                <c:pt idx="18">
                  <c:v>33.35950388095344</c:v>
                </c:pt>
                <c:pt idx="19">
                  <c:v>36.69545426904879</c:v>
                </c:pt>
                <c:pt idx="20">
                  <c:v>40.364999695953664</c:v>
                </c:pt>
                <c:pt idx="21">
                  <c:v>44.40149966554903</c:v>
                </c:pt>
                <c:pt idx="22">
                  <c:v>48.841649632103945</c:v>
                </c:pt>
                <c:pt idx="23">
                  <c:v>53.72581459531435</c:v>
                </c:pt>
                <c:pt idx="24">
                  <c:v>59.09839605484578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Utility Only @ 7%/yr</c:v>
                </c:pt>
              </c:strCache>
            </c:strRef>
          </c:tx>
          <c:spPr>
            <a:ln w="22860">
              <a:solidFill>
                <a:srgbClr val="050D25"/>
              </a:solidFill>
              <a:prstDash val="solid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6.0</c:v>
                </c:pt>
                <c:pt idx="1">
                  <c:v>6.42</c:v>
                </c:pt>
                <c:pt idx="2">
                  <c:v>6.869400000000001</c:v>
                </c:pt>
                <c:pt idx="3">
                  <c:v>7.350258000000001</c:v>
                </c:pt>
                <c:pt idx="4">
                  <c:v>7.864776060000001</c:v>
                </c:pt>
                <c:pt idx="5">
                  <c:v>8.415310384200001</c:v>
                </c:pt>
                <c:pt idx="6">
                  <c:v>9.004382111094003</c:v>
                </c:pt>
                <c:pt idx="7">
                  <c:v>9.634688858870584</c:v>
                </c:pt>
                <c:pt idx="8">
                  <c:v>10.309117078991525</c:v>
                </c:pt>
                <c:pt idx="9">
                  <c:v>11.030755274520931</c:v>
                </c:pt>
                <c:pt idx="10">
                  <c:v>11.8029081437374</c:v>
                </c:pt>
                <c:pt idx="11">
                  <c:v>12.629111713799018</c:v>
                </c:pt>
                <c:pt idx="12">
                  <c:v>13.513149533764949</c:v>
                </c:pt>
                <c:pt idx="13">
                  <c:v>14.459070001128495</c:v>
                </c:pt>
                <c:pt idx="14">
                  <c:v>15.471204901207491</c:v>
                </c:pt>
                <c:pt idx="15">
                  <c:v>16.55418924429202</c:v>
                </c:pt>
                <c:pt idx="16">
                  <c:v>17.71298249139246</c:v>
                </c:pt>
                <c:pt idx="17">
                  <c:v>18.95289126578993</c:v>
                </c:pt>
                <c:pt idx="18">
                  <c:v>20.27959365439523</c:v>
                </c:pt>
                <c:pt idx="19">
                  <c:v>21.6991652102029</c:v>
                </c:pt>
                <c:pt idx="20">
                  <c:v>23.2181067749171</c:v>
                </c:pt>
                <c:pt idx="21">
                  <c:v>24.8433742491613</c:v>
                </c:pt>
                <c:pt idx="22">
                  <c:v>26.582410446602594</c:v>
                </c:pt>
                <c:pt idx="23">
                  <c:v>28.443179177864774</c:v>
                </c:pt>
                <c:pt idx="24">
                  <c:v>30.43420172031531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Utility Only @ 4%/yr</c:v>
                </c:pt>
              </c:strCache>
            </c:strRef>
          </c:tx>
          <c:spPr>
            <a:ln w="16510">
              <a:solidFill>
                <a:srgbClr val="518484"/>
              </a:solidFill>
              <a:prstDash val="dash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6.0</c:v>
                </c:pt>
                <c:pt idx="1">
                  <c:v>6.24</c:v>
                </c:pt>
                <c:pt idx="2">
                  <c:v>6.4896</c:v>
                </c:pt>
                <c:pt idx="3">
                  <c:v>6.7491840000000005</c:v>
                </c:pt>
                <c:pt idx="4">
                  <c:v>7.019151360000001</c:v>
                </c:pt>
                <c:pt idx="5">
                  <c:v>7.299917414400001</c:v>
                </c:pt>
                <c:pt idx="6">
                  <c:v>7.591914110976002</c:v>
                </c:pt>
                <c:pt idx="7">
                  <c:v>7.895590675415042</c:v>
                </c:pt>
                <c:pt idx="8">
                  <c:v>8.211414302431644</c:v>
                </c:pt>
                <c:pt idx="9">
                  <c:v>8.53987087452891</c:v>
                </c:pt>
                <c:pt idx="10">
                  <c:v>8.881465709510067</c:v>
                </c:pt>
                <c:pt idx="11">
                  <c:v>9.23672433789047</c:v>
                </c:pt>
                <c:pt idx="12">
                  <c:v>9.606193311406088</c:v>
                </c:pt>
                <c:pt idx="13">
                  <c:v>9.990441043862333</c:v>
                </c:pt>
                <c:pt idx="14">
                  <c:v>10.390058685616827</c:v>
                </c:pt>
                <c:pt idx="15">
                  <c:v>10.805661033041499</c:v>
                </c:pt>
                <c:pt idx="16">
                  <c:v>11.237887474363161</c:v>
                </c:pt>
                <c:pt idx="17">
                  <c:v>11.687402973337687</c:v>
                </c:pt>
                <c:pt idx="18">
                  <c:v>12.154899092271195</c:v>
                </c:pt>
                <c:pt idx="19">
                  <c:v>12.641095055962044</c:v>
                </c:pt>
                <c:pt idx="20">
                  <c:v>13.146738858200525</c:v>
                </c:pt>
                <c:pt idx="21">
                  <c:v>13.672608412528547</c:v>
                </c:pt>
                <c:pt idx="22">
                  <c:v>14.219512749029688</c:v>
                </c:pt>
                <c:pt idx="23">
                  <c:v>14.788293258990878</c:v>
                </c:pt>
                <c:pt idx="24">
                  <c:v>15.379824989350514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With PPA + Solar</c:v>
                </c:pt>
              </c:strCache>
            </c:strRef>
          </c:tx>
          <c:spPr>
            <a:ln w="27940">
              <a:solidFill>
                <a:srgbClr val="45A750"/>
              </a:solidFill>
              <a:prstDash val="solid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3.6</c:v>
                </c:pt>
                <c:pt idx="1">
                  <c:v>3.7249920000000003</c:v>
                </c:pt>
                <c:pt idx="2">
                  <c:v>3.8544324480000003</c:v>
                </c:pt>
                <c:pt idx="3">
                  <c:v>3.9884832961920003</c:v>
                </c:pt>
                <c:pt idx="4">
                  <c:v>4.127312511269568</c:v>
                </c:pt>
                <c:pt idx="5">
                  <c:v>4.271094301563905</c:v>
                </c:pt>
                <c:pt idx="6">
                  <c:v>4.4200093528754785</c:v>
                </c:pt>
                <c:pt idx="7">
                  <c:v>4.574245073337737</c:v>
                </c:pt>
                <c:pt idx="8">
                  <c:v>4.733995847662556</c:v>
                </c:pt>
                <c:pt idx="9">
                  <c:v>4.899463301130716</c:v>
                </c:pt>
                <c:pt idx="10">
                  <c:v>5.070856573704889</c:v>
                </c:pt>
                <c:pt idx="11">
                  <c:v>5.2483926046573695</c:v>
                </c:pt>
                <c:pt idx="12">
                  <c:v>5.432296428120073</c:v>
                </c:pt>
                <c:pt idx="13">
                  <c:v>5.622801479980301</c:v>
                </c:pt>
                <c:pt idx="14">
                  <c:v>5.820149916562265</c:v>
                </c:pt>
                <c:pt idx="15">
                  <c:v>6.024592945551607</c:v>
                </c:pt>
                <c:pt idx="16">
                  <c:v>6.2363911696380026</c:v>
                </c:pt>
                <c:pt idx="17">
                  <c:v>6.455814943369519</c:v>
                </c:pt>
                <c:pt idx="18">
                  <c:v>6.68314474373173</c:v>
                </c:pt>
                <c:pt idx="19">
                  <c:v>6.918671554984625</c:v>
                </c:pt>
                <c:pt idx="20">
                  <c:v>7.16269726831124</c:v>
                </c:pt>
                <c:pt idx="21">
                  <c:v>7.415535096853611</c:v>
                </c:pt>
                <c:pt idx="22">
                  <c:v>7.677510006734162</c:v>
                </c:pt>
                <c:pt idx="23">
                  <c:v>7.948959164684124</c:v>
                </c:pt>
                <c:pt idx="24">
                  <c:v>8.23023240292482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latin typeface="Century Gothic"/>
                  </a:defRPr>
                </a:pPr>
                <a:r>
                  <a:t>Contract Year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spPr>
          <a:ln w="6350">
            <a:solidFill>
              <a:srgbClr val="CCCCCC"/>
            </a:solidFill>
          </a:ln>
        </c:spPr>
        <c:crossAx val="2140495176"/>
        <c:crosses val="autoZero"/>
        <c:auto val="1"/>
        <c:lblAlgn val="ctr"/>
        <c:lblOffset val="100"/>
        <c:noMultiLvlLbl val="0"/>
        <c:txPr>
          <a:bodyPr/>
          <a:p>
            <a:pPr>
              <a:defRPr sz="800">
                <a:latin typeface="Century Gothic"/>
              </a:defRPr>
            </a:pPr>
          </a:p>
        </c:txPr>
      </c:catAx>
      <c:valAx>
        <c:axId val="2140495176"/>
        <c:scaling/>
        <c:delete val="0"/>
        <c:axPos val="l"/>
        <c:majorGridlines>
          <c:spPr>
            <a:ln w="5080">
              <a:solidFill>
                <a:srgbClr val="E8E8E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>
                    <a:latin typeface="Century Gothic"/>
                  </a:defRPr>
                </a:pPr>
                <a:r>
                  <a:t>Annual Cost ($K)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2118791784"/>
        <c:crosses val="autoZero"/>
        <c:txPr>
          <a:bodyPr/>
          <a:p>
            <a:pPr>
              <a:defRPr sz="800">
                <a:latin typeface="Century Gothic"/>
              </a:defRPr>
            </a:pPr>
          </a:p>
        </c:txPr>
      </c:valAx>
    </c:plotArea>
    <c:legend>
      <c:legendPos val="b"/>
      <c:layout/>
      <c:overlay val="0"/>
      <c:txPr>
        <a:bodyPr/>
        <a:p>
          <a:pPr>
            <a:defRPr sz="800">
              <a:latin typeface="Century Gothi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594360" cy="5840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3611880"/>
            <a:ext cx="10820095" cy="1905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50D25"/>
                </a:solidFill>
                <a:latin typeface="Century Gothic"/>
              </a:rPr>
              <a:t>Behind-the-Meter Solar +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5A750"/>
                </a:solidFill>
                <a:latin typeface="Century Gothic"/>
              </a:rPr>
              <a:t>Investment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0D25"/>
                </a:solidFill>
                <a:latin typeface="Century Gothic"/>
              </a:rPr>
              <a:t>Test Corp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123 Main St  |  ACC-001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35040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Confidential  |  </a:t>
            </a:r>
          </a:p>
        </p:txBody>
      </p:sp>
      <p:pic>
        <p:nvPicPr>
          <p:cNvPr id="10" name="Picture 9" descr="38NOR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5897880"/>
            <a:ext cx="2286000" cy="7892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Test Corp  |  SCE TOU-D-PRIME  |  100 kW-DC Solar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Day-1 savings of $2K (15.0%) with zero upfront capital. System offsets 80% of annual load and provides long-term rate certainty.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D25"/>
                </a:solidFill>
                <a:latin typeface="Century Gothic"/>
              </a:rPr>
              <a:t>FINANCIAL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92808"/>
            <a:ext cx="50292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Current Annual Utility Bill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011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$6K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408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Projected Year 1 Cost (w/ Solar)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34086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700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Year 1 Net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67004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992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Savings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15.0%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2841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PPA Rate (Year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328415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$0.120/kWh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5759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PPA Escalator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65759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2.9%/yr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867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Contract Term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98678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25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159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Upfront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3159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645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D25"/>
                </a:solidFill>
                <a:latin typeface="Century Gothic"/>
              </a:rPr>
              <a:t>SYSTEM &amp; ENERGY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1892808"/>
            <a:ext cx="50292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0116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System Size (DC)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011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100 kW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3408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34086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14 MWh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6700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67004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18 MWh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9992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80%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32841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Specific Yield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3328415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144 kWh/kW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65759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65759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67%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9867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Peak 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398678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0 kW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pv-rate-sim billing model; 8,760-hour simulation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1:  Test Corp spends $6K/yr on electricity (TOU-D-PRIME)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SCE  |  18 MWh annual load  |  0 kW peak demand  |  $0.3333/kWh blended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All-in blended rate of $0.3333/kWh. Demand charges represent a significant cost component. Rising utility rates compound exposure annually.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2468880" cy="381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$6K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Utility Bill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9538" y="164592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9538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0 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9538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Peak Demand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3276" y="164592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3276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$0.3333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3276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Blended $/kWh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1645920"/>
            <a:ext cx="2468880" cy="38100"/>
          </a:xfrm>
          <a:prstGeom prst="rect">
            <a:avLst/>
          </a:prstGeom>
          <a:solidFill>
            <a:srgbClr val="1D6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7015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18 MWh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015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514600"/>
            <a:ext cx="10820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D25"/>
                </a:solidFill>
                <a:latin typeface="Century Gothic"/>
              </a:rPr>
              <a:t>MONTHLY COST BREAKDOWN  (WITHOUT SOLAR)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72491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85800" y="2788920"/>
          <a:ext cx="77724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143000"/>
                <a:gridCol w="914400"/>
                <a:gridCol w="1280160"/>
                <a:gridCol w="1280160"/>
                <a:gridCol w="109728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Month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Load 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Peak kW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Energy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Demand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Fixed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Total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Jan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Feb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Mar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Apr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May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Jun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Aug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Sep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Oct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Nov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Dec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billing simulation; SCE TOU-D-PRIME rate schedule; 8,760-hour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2:  Proposed 100 kW solar at zero upfront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System sized to optimize load offset and demand charge reduction under current tariff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4754880" cy="2560320"/>
          </a:xfrm>
          <a:prstGeom prst="rect">
            <a:avLst/>
          </a:prstGeom>
          <a:noFill/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4754880" cy="4445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0D25"/>
                </a:solidFill>
                <a:latin typeface="Century Gothic"/>
              </a:rPr>
              <a:t>SOLAR ARRAY (PV)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DC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100 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AC Interconnection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100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DC:AC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1.0:1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023360"/>
            <a:ext cx="10820095" cy="438912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8736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45A750"/>
                </a:solidFill>
                <a:latin typeface="Century Gothic"/>
              </a:rPr>
              <a:t>PPA Rate: $0.120/kWh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Escalator: 2.9%/yr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Term: 25 years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Upfront Cost: $0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Tariff: TOU-D-PRIME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3:  Solar reduces Year 1 electricity cost by $2K (15.0%)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Comparison at current TOU-D-PRIME rates  |  Savings accrue from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D25"/>
                </a:solidFill>
                <a:latin typeface="Century Gothic"/>
              </a:rPr>
              <a:t>YEAR 1 COST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16152"/>
            <a:ext cx="45720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entury Gothic"/>
              </a:rPr>
              <a:t>Without Solar  (TOU-D-PRIME)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27048"/>
            <a:ext cx="2011680" cy="1645920"/>
          </a:xfrm>
          <a:prstGeom prst="rect">
            <a:avLst/>
          </a:prstGeom>
          <a:solidFill>
            <a:srgbClr val="21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208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entury Gothic"/>
              </a:rPr>
              <a:t>$6K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168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Century Gothic"/>
              </a:rPr>
              <a:t>per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325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entury Gothic"/>
              </a:rPr>
              <a:t>With Solar + 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185416"/>
            <a:ext cx="2011680" cy="98755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4323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entury Gothic"/>
              </a:rPr>
              <a:t>$4K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72856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Century Gothic"/>
              </a:rPr>
              <a:t>per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5A750"/>
                </a:solidFill>
                <a:latin typeface="Century Gothic"/>
              </a:rPr>
              <a:t>NET SAVINGS:  $2K / YEAR  (15.0%)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D25"/>
                </a:solidFill>
                <a:latin typeface="Century Gothic"/>
              </a:rPr>
              <a:t>YEAR 1 SAVINGS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977639"/>
            <a:ext cx="45720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42232"/>
            <a:ext cx="109728" cy="109728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8736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Energy charge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08736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$180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416552"/>
            <a:ext cx="109728" cy="109728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6168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Demand charge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3616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$2K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690871"/>
            <a:ext cx="109728" cy="109728"/>
          </a:xfrm>
          <a:prstGeom prst="rect">
            <a:avLst/>
          </a:prstGeom>
          <a:solidFill>
            <a:srgbClr val="1D6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636007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Export credits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636007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9601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D25"/>
                </a:solidFill>
                <a:latin typeface="Century Gothic"/>
              </a:rPr>
              <a:t>ANNUAL SAVINGS BY COMPONENT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1216152"/>
            <a:ext cx="576072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99999"/>
                </a:solidFill>
                <a:latin typeface="Century Gothic"/>
              </a:rPr>
              <a:t>Run multi-year projection to populate savings chart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035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Savings grow each year as utility rates escalate while the solar cost remains contractually fixed.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billing simulation at current published tariff rates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4:  Cumulative savings reach $102K over 25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Illustrative projection at 4%/yr utility escalation  |  PPA at $0.120/kWh, 2.9%/yr escalator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At a conservative 4%/yr utility escalation, cumulative savings exceed $102K. Actual historical rate growth has been materially higher.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45920"/>
          <a:ext cx="76809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"/>
                <a:gridCol w="1554480"/>
                <a:gridCol w="1554480"/>
                <a:gridCol w="1371600"/>
                <a:gridCol w="731520"/>
                <a:gridCol w="1554480"/>
              </a:tblGrid>
              <a:tr h="17373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Year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NEM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Utility Cost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(No Solar)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Total Cost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(w/ Solar)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Annual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%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Cumulative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$2K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40.0%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$2K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40.7%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41.4%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$7K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42.0%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$10K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$7K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42.5%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$13K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6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$7K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43.1%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$7K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43.5%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$20K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44.0%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$23K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9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44.4%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$27K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44.9%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$30K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11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45.2%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$9K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45.6%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$9K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45.9%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$42K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$9K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46.3%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$9K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46.6%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$51K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16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$10K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46.9%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47.2%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$10K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47.4%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19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47.7%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$70K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$11K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47.9%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$75K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21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$11K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48.1%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$11K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48.4%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$11K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48.6%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$91K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$12K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48.8%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$96K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25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$12K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49.0%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$102K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projection model  |  Assumes 4%/yr linear utility rate escalation. PPA rate of $0.120/kWh at 2.9%/yr is contractually fixed.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5:  Solar offsets 80% of site load (67% self-consumed)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14 MWh annual production  |  18 MWh annual load  |  5 MWh exported to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D25"/>
                </a:solidFill>
                <a:latin typeface="Century Gothic"/>
              </a:rPr>
              <a:t>MONTHLY PRODUCTION VS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1615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325880"/>
          <a:ext cx="96012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466344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5A750"/>
                </a:solidFill>
                <a:latin typeface="Century Gothic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9538" y="466344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9538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14 MWh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9538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3276" y="466344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3276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3276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4663440"/>
            <a:ext cx="2468880" cy="381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7015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015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Specific Yield (kWh/kW)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8,760-hour simulation; monthly aggregation of hourly production and load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6:  System produces 14 MWh/yr, offsetting 80% of site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Yield: 144 kWh/kW  |  Self-consumption: 67%  |  Export: 5 MWh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14 MWh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9538" y="105156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9538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18 MWh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9538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3276" y="105156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3276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5A750"/>
                </a:solidFill>
                <a:latin typeface="Century Gothic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3276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7015" y="105156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7015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015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965960"/>
            <a:ext cx="10820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D25"/>
                </a:solidFill>
                <a:latin typeface="Century Gothic"/>
              </a:rPr>
              <a:t>MONTHLY ENERGY &amp; BILLING SUMMARY  (YEAR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17627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2240280"/>
          <a:ext cx="896112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960120"/>
                <a:gridCol w="960120"/>
                <a:gridCol w="960120"/>
                <a:gridCol w="960120"/>
                <a:gridCol w="685800"/>
                <a:gridCol w="960120"/>
                <a:gridCol w="960120"/>
                <a:gridCol w="960120"/>
                <a:gridCol w="96012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Month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Load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Solar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Import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Export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Peak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kW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Energy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Demand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Export Cr.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Net Bill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Jan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Feb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Mar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Apr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May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Jun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Aug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Sep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Oct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Nov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Dec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18.0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14.4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8.4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4.8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—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$3,120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$360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$3,600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8,760-hour billing simulation  |  All values Year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Process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From proposal to commercial operation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System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100 kW solar installed on-site at zero cost to you.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9456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18541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Tariff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41401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Transition to the optimal SCE rate schedule that maximizes value from BTM generation.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0040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19125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Solar Feeds Operations Directly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41985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Production consumed on-site first, reducing grid imports during daylight hours.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Predictable, Fixed-Rate 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PPA at $0.120/kWh, 2.9%/yr escalator for 25 years. No rate volatility on solar kWh.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212080"/>
            <a:ext cx="10820095" cy="384048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48656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entury Gothic"/>
              </a:rPr>
              <a:t>System owned, operated, and maintained by 38 Degrees North for the full 25-year term. Zero operational risk or cost to host.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7:  Fixed-rate PPA hedges against rising utility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SCE  |  Rate certainty as a strategic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The PPA provides a contractually fixed energy cost for 25 years. Day-1 savings are locked in; future utility increases widen the margin.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55448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18120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D25"/>
                </a:solidFill>
                <a:latin typeface="Century Gothic"/>
              </a:rPr>
              <a:t>SCENARIO ASSUMPTIONS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920240"/>
            <a:ext cx="35661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Middle case: 4%/yr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Upper case: 7%/yr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Stress case: 10%/yr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PPA: $0.120/kWh, 2.9%/yr escalator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Grid residual escalated at 4%/yr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Term: 25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840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D25"/>
                </a:solidFill>
                <a:latin typeface="Century Gothic"/>
              </a:rPr>
              <a:t>KEY 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187952"/>
            <a:ext cx="35661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Wildfire liability, grid hardening, and transmission costs drive rates upward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Regulatory cost recovery provides limited customer rate relief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PPA rate is contractually fixed for the full 25-year term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Day-1 economics are positive at current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projection model; SCE published tariff rates; illustrative scenarios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entury Gothic"/>
              </a:rPr>
              <a:t>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Execute Letter of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Non-binding LOI confirms mutual interest and key commercial terms.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084832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7568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Site Assessment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042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Engineering conducts site visit; confirms layout, interconnection, and structural feasibility.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80944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97180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Execute PPA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2004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Finalize 25-year PPA at $0.120/kWh with 2.9% annual escalator.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877056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86791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Permitting &amp;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0965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38DN manages all permits, utility coordination, and construction.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76402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Commercial Operation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9926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System goes live. Savings begin immediately.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18484"/>
                </a:solidFill>
                <a:latin typeface="Century Gothic"/>
              </a:rPr>
              <a:t>Lock in rate certainty.  </a:t>
            </a:r>
            <a:r>
              <a:rPr sz="1100" b="1" i="0">
                <a:solidFill>
                  <a:srgbClr val="45A750"/>
                </a:solidFill>
                <a:latin typeface="Century Gothic"/>
              </a:rPr>
              <a:t>Zero upfront investment.</a:t>
            </a:r>
          </a:p>
        </p:txBody>
      </p:sp>
      <p:pic>
        <p:nvPicPr>
          <p:cNvPr id="21" name="Picture 20" descr="38NO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286000" cy="7892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